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</p:sldIdLst>
  <p:sldSz cy="6858000" cx="12192000"/>
  <p:notesSz cx="6858000" cy="9144000"/>
  <p:embeddedFontLst>
    <p:embeddedFont>
      <p:font typeface="Raleway"/>
      <p:regular r:id="rId21"/>
      <p:bold r:id="rId22"/>
      <p:italic r:id="rId23"/>
      <p:boldItalic r:id="rId24"/>
    </p:embeddedFont>
    <p:embeddedFont>
      <p:font typeface="Lato"/>
      <p:regular r:id="rId25"/>
      <p:bold r:id="rId26"/>
      <p:italic r:id="rId27"/>
      <p:boldItalic r:id="rId28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64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  <p:ext uri="GoogleSlidesCustomDataVersion2">
      <go:slidesCustomData xmlns:go="http://customooxmlschemas.google.com/" r:id="rId29" roundtripDataSignature="AMtx7mhGgc6b9iSsgZKtAbMXW+AHovu/a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640" orient="horz"/>
        <p:guide pos="384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Raleway-bold.fntdata"/><Relationship Id="rId21" Type="http://schemas.openxmlformats.org/officeDocument/2006/relationships/font" Target="fonts/Raleway-regular.fntdata"/><Relationship Id="rId24" Type="http://schemas.openxmlformats.org/officeDocument/2006/relationships/font" Target="fonts/Raleway-boldItalic.fntdata"/><Relationship Id="rId23" Type="http://schemas.openxmlformats.org/officeDocument/2006/relationships/font" Target="fonts/Raleway-italic.fntdata"/><Relationship Id="rId1" Type="http://schemas.openxmlformats.org/officeDocument/2006/relationships/theme" Target="theme/theme2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Lato-bold.fntdata"/><Relationship Id="rId25" Type="http://schemas.openxmlformats.org/officeDocument/2006/relationships/font" Target="fonts/Lato-regular.fntdata"/><Relationship Id="rId28" Type="http://schemas.openxmlformats.org/officeDocument/2006/relationships/font" Target="fonts/Lato-boldItalic.fntdata"/><Relationship Id="rId27" Type="http://schemas.openxmlformats.org/officeDocument/2006/relationships/font" Target="fonts/Lato-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customschemas.google.com/relationships/presentationmetadata" Target="metadata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0" name="Google Shape;70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2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75" name="Google Shape;75;p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6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0" name="Google Shape;90;p2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6" name="Google Shape;96;p27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97" name="Google Shape;97;p2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p28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05" name="Google Shape;105;p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p29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12" name="Google Shape;112;p2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g26ec83d54b5_0_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0" name="Google Shape;120;g26ec83d54b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3" name="Shape 1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Google Shape;124;p3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25" name="Google Shape;125;p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p31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32" name="Google Shape;132;p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8" name="Shape 1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9" name="Google Shape;139;p32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0" name="Google Shape;140;p3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33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47" name="Google Shape;147;p3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g26ec83d54b5_0_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5" name="Google Shape;155;g26ec83d54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34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0" name="Google Shape;160;p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5" name="Shape 1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Google Shape;166;p35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167" name="Google Shape;167;p3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26ec83d54b5_0_10:notes"/>
          <p:cNvSpPr/>
          <p:nvPr>
            <p:ph idx="2" type="sldImg"/>
          </p:nvPr>
        </p:nvSpPr>
        <p:spPr>
          <a:xfrm>
            <a:off x="3810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26ec83d54b5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43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44"/>
          <p:cNvSpPr txBox="1"/>
          <p:nvPr>
            <p:ph type="title"/>
          </p:nvPr>
        </p:nvSpPr>
        <p:spPr>
          <a:xfrm>
            <a:off x="404400" y="548767"/>
            <a:ext cx="11360800" cy="852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13" name="Google Shape;13;p44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bg>
      <p:bgPr>
        <a:solidFill>
          <a:schemeClr val="dk1"/>
        </a:solidFill>
      </p:bgPr>
    </p:bg>
    <p:spTree>
      <p:nvGrpSpPr>
        <p:cNvPr id="14" name="Shape 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5" name="Google Shape;15;p45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6" name="Google Shape;16;p45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7" name="Google Shape;17;p45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8" name="Google Shape;18;p45"/>
          <p:cNvSpPr txBox="1"/>
          <p:nvPr>
            <p:ph type="ctrTitle"/>
          </p:nvPr>
        </p:nvSpPr>
        <p:spPr>
          <a:xfrm>
            <a:off x="3162300" y="840300"/>
            <a:ext cx="8442000" cy="20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19" name="Google Shape;19;p45"/>
          <p:cNvSpPr txBox="1"/>
          <p:nvPr>
            <p:ph idx="1" type="subTitle"/>
          </p:nvPr>
        </p:nvSpPr>
        <p:spPr>
          <a:xfrm>
            <a:off x="3187023" y="4317933"/>
            <a:ext cx="8442000" cy="1655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None/>
              <a:defRPr sz="2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0" name="Google Shape;20;p45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bg>
      <p:bgPr>
        <a:solidFill>
          <a:schemeClr val="dk1"/>
        </a:solidFill>
      </p:bgPr>
    </p:bg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2" name="Google Shape;22;p46"/>
          <p:cNvCxnSpPr/>
          <p:nvPr/>
        </p:nvCxnSpPr>
        <p:spPr>
          <a:xfrm>
            <a:off x="566933" y="554200"/>
            <a:ext cx="11062400" cy="0"/>
          </a:xfrm>
          <a:prstGeom prst="straightConnector1">
            <a:avLst/>
          </a:prstGeom>
          <a:noFill/>
          <a:ln cap="flat" cmpd="sng" w="381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3" name="Google Shape;23;p46"/>
          <p:cNvCxnSpPr/>
          <p:nvPr/>
        </p:nvCxnSpPr>
        <p:spPr>
          <a:xfrm>
            <a:off x="566933" y="6320000"/>
            <a:ext cx="11062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4" name="Google Shape;24;p46"/>
          <p:cNvSpPr txBox="1"/>
          <p:nvPr>
            <p:ph type="title"/>
          </p:nvPr>
        </p:nvSpPr>
        <p:spPr>
          <a:xfrm>
            <a:off x="541900" y="2409100"/>
            <a:ext cx="11062400" cy="2056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25" name="Google Shape;25;p46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6" name="Shape 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27" name="Google Shape;27;p47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8" name="Google Shape;28;p47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29" name="Google Shape;29;p47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0" name="Google Shape;30;p47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1" name="Google Shape;31;p47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2" name="Google Shape;32;p47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4" name="Google Shape;34;p48"/>
          <p:cNvCxnSpPr/>
          <p:nvPr/>
        </p:nvCxnSpPr>
        <p:spPr>
          <a:xfrm>
            <a:off x="3303632" y="554200"/>
            <a:ext cx="83256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5" name="Google Shape;35;p48"/>
          <p:cNvCxnSpPr/>
          <p:nvPr/>
        </p:nvCxnSpPr>
        <p:spPr>
          <a:xfrm>
            <a:off x="3303632" y="6320000"/>
            <a:ext cx="83256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36" name="Google Shape;36;p48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37" name="Google Shape;37;p48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000"/>
              <a:buNone/>
              <a:defRPr/>
            </a:lvl9pPr>
          </a:lstStyle>
          <a:p/>
        </p:txBody>
      </p:sp>
      <p:sp>
        <p:nvSpPr>
          <p:cNvPr id="38" name="Google Shape;38;p48"/>
          <p:cNvSpPr txBox="1"/>
          <p:nvPr>
            <p:ph idx="1" type="body"/>
          </p:nvPr>
        </p:nvSpPr>
        <p:spPr>
          <a:xfrm>
            <a:off x="3200404" y="2136900"/>
            <a:ext cx="40952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39" name="Google Shape;39;p48"/>
          <p:cNvSpPr txBox="1"/>
          <p:nvPr>
            <p:ph idx="2" type="body"/>
          </p:nvPr>
        </p:nvSpPr>
        <p:spPr>
          <a:xfrm>
            <a:off x="7534096" y="2136900"/>
            <a:ext cx="40952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867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0" name="Google Shape;40;p48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2" name="Google Shape;42;p49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3" name="Google Shape;43;p49"/>
          <p:cNvSpPr txBox="1"/>
          <p:nvPr>
            <p:ph type="title"/>
          </p:nvPr>
        </p:nvSpPr>
        <p:spPr>
          <a:xfrm>
            <a:off x="426000" y="1248800"/>
            <a:ext cx="3744000" cy="100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3200"/>
            </a:lvl9pPr>
          </a:lstStyle>
          <a:p/>
        </p:txBody>
      </p:sp>
      <p:sp>
        <p:nvSpPr>
          <p:cNvPr id="44" name="Google Shape;44;p49"/>
          <p:cNvSpPr txBox="1"/>
          <p:nvPr>
            <p:ph idx="1" type="body"/>
          </p:nvPr>
        </p:nvSpPr>
        <p:spPr>
          <a:xfrm>
            <a:off x="426000" y="2462405"/>
            <a:ext cx="3744000" cy="3741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600"/>
            </a:lvl1pPr>
            <a:lvl2pPr indent="-3048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2pPr>
            <a:lvl3pPr indent="-3048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3pPr>
            <a:lvl4pPr indent="-3048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4pPr>
            <a:lvl5pPr indent="-3048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5pPr>
            <a:lvl6pPr indent="-3048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■"/>
              <a:defRPr sz="1600"/>
            </a:lvl6pPr>
            <a:lvl7pPr indent="-3048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●"/>
              <a:defRPr sz="1600"/>
            </a:lvl7pPr>
            <a:lvl8pPr indent="-3048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200"/>
              <a:buChar char="○"/>
              <a:defRPr sz="1600"/>
            </a:lvl8pPr>
            <a:lvl9pPr indent="-3048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200"/>
              <a:buChar char="■"/>
              <a:defRPr sz="1600"/>
            </a:lvl9pPr>
          </a:lstStyle>
          <a:p/>
        </p:txBody>
      </p:sp>
      <p:sp>
        <p:nvSpPr>
          <p:cNvPr id="45" name="Google Shape;45;p49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lt2"/>
        </a:solidFill>
      </p:bgPr>
    </p:bg>
    <p:spTree>
      <p:nvGrpSpPr>
        <p:cNvPr id="46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7" name="Google Shape;47;p50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50"/>
          <p:cNvSpPr txBox="1"/>
          <p:nvPr>
            <p:ph type="title"/>
          </p:nvPr>
        </p:nvSpPr>
        <p:spPr>
          <a:xfrm>
            <a:off x="377471" y="949521"/>
            <a:ext cx="8325600" cy="5114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4800"/>
              <a:buNone/>
              <a:defRPr sz="6400"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49" name="Google Shape;49;p50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51"/>
          <p:cNvSpPr/>
          <p:nvPr/>
        </p:nvSpPr>
        <p:spPr>
          <a:xfrm>
            <a:off x="6096000" y="167"/>
            <a:ext cx="6096000" cy="6858000"/>
          </a:xfrm>
          <a:prstGeom prst="rect">
            <a:avLst/>
          </a:prstGeom>
          <a:solidFill>
            <a:schemeClr val="dk1"/>
          </a:solidFill>
          <a:ln>
            <a:noFill/>
          </a:ln>
        </p:spPr>
        <p:txBody>
          <a:bodyPr anchorCtr="0" anchor="ctr" bIns="121900" lIns="121900" spcFirstLastPara="1" rIns="121900" wrap="square" tIns="121900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89"/>
              <a:buFont typeface="Arial"/>
              <a:buNone/>
            </a:pPr>
            <a:r>
              <a:t/>
            </a:r>
            <a:endParaRPr b="0" i="0" sz="2489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52" name="Google Shape;52;p51"/>
          <p:cNvCxnSpPr/>
          <p:nvPr/>
        </p:nvCxnSpPr>
        <p:spPr>
          <a:xfrm>
            <a:off x="6706233" y="5994000"/>
            <a:ext cx="6244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53" name="Google Shape;53;p51"/>
          <p:cNvSpPr txBox="1"/>
          <p:nvPr>
            <p:ph type="title"/>
          </p:nvPr>
        </p:nvSpPr>
        <p:spPr>
          <a:xfrm>
            <a:off x="354000" y="1863133"/>
            <a:ext cx="5393600" cy="17576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600"/>
              <a:buNone/>
              <a:defRPr sz="4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54" name="Google Shape;54;p51"/>
          <p:cNvSpPr txBox="1"/>
          <p:nvPr>
            <p:ph idx="1" type="subTitle"/>
          </p:nvPr>
        </p:nvSpPr>
        <p:spPr>
          <a:xfrm>
            <a:off x="354000" y="3647161"/>
            <a:ext cx="5393600" cy="1794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800"/>
            </a:lvl9pPr>
          </a:lstStyle>
          <a:p/>
        </p:txBody>
      </p:sp>
      <p:sp>
        <p:nvSpPr>
          <p:cNvPr id="55" name="Google Shape;55;p51"/>
          <p:cNvSpPr txBox="1"/>
          <p:nvPr>
            <p:ph idx="2" type="body"/>
          </p:nvPr>
        </p:nvSpPr>
        <p:spPr>
          <a:xfrm>
            <a:off x="6586000" y="965600"/>
            <a:ext cx="5116000" cy="4926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 algn="l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 algn="l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6" name="Google Shape;56;p51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lt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58" name="Google Shape;58;p52"/>
          <p:cNvCxnSpPr/>
          <p:nvPr/>
        </p:nvCxnSpPr>
        <p:spPr>
          <a:xfrm>
            <a:off x="566933" y="6320000"/>
            <a:ext cx="1106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59" name="Google Shape;59;p52"/>
          <p:cNvCxnSpPr/>
          <p:nvPr/>
        </p:nvCxnSpPr>
        <p:spPr>
          <a:xfrm>
            <a:off x="566931" y="554200"/>
            <a:ext cx="244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0" name="Google Shape;60;p52"/>
          <p:cNvSpPr txBox="1"/>
          <p:nvPr>
            <p:ph idx="1" type="body"/>
          </p:nvPr>
        </p:nvSpPr>
        <p:spPr>
          <a:xfrm>
            <a:off x="437356" y="5634700"/>
            <a:ext cx="111848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61" name="Google Shape;61;p52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3" name="Google Shape;63;p53"/>
          <p:cNvCxnSpPr/>
          <p:nvPr/>
        </p:nvCxnSpPr>
        <p:spPr>
          <a:xfrm>
            <a:off x="566933" y="6320000"/>
            <a:ext cx="11062400" cy="0"/>
          </a:xfrm>
          <a:prstGeom prst="straightConnector1">
            <a:avLst/>
          </a:prstGeom>
          <a:noFill/>
          <a:ln cap="flat" cmpd="sng" w="1905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64" name="Google Shape;64;p53"/>
          <p:cNvCxnSpPr/>
          <p:nvPr/>
        </p:nvCxnSpPr>
        <p:spPr>
          <a:xfrm>
            <a:off x="566933" y="554200"/>
            <a:ext cx="11062400" cy="0"/>
          </a:xfrm>
          <a:prstGeom prst="straightConnector1">
            <a:avLst/>
          </a:prstGeom>
          <a:noFill/>
          <a:ln cap="flat" cmpd="sng" w="381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65" name="Google Shape;65;p53"/>
          <p:cNvSpPr txBox="1"/>
          <p:nvPr>
            <p:ph hasCustomPrompt="1" type="title"/>
          </p:nvPr>
        </p:nvSpPr>
        <p:spPr>
          <a:xfrm>
            <a:off x="1138600" y="1739800"/>
            <a:ext cx="9914800" cy="2051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9600"/>
              <a:buFont typeface="Lato"/>
              <a:buNone/>
              <a:defRPr sz="128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r>
              <a:t>xx%</a:t>
            </a:r>
          </a:p>
        </p:txBody>
      </p:sp>
      <p:sp>
        <p:nvSpPr>
          <p:cNvPr id="66" name="Google Shape;66;p53"/>
          <p:cNvSpPr txBox="1"/>
          <p:nvPr>
            <p:ph idx="1" type="body"/>
          </p:nvPr>
        </p:nvSpPr>
        <p:spPr>
          <a:xfrm>
            <a:off x="1138600" y="3892600"/>
            <a:ext cx="9914800" cy="1428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2133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2133"/>
              </a:spcBef>
              <a:spcAft>
                <a:spcPts val="2133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7" name="Google Shape;67;p53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333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2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wiss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42"/>
          <p:cNvSpPr txBox="1"/>
          <p:nvPr>
            <p:ph type="title"/>
          </p:nvPr>
        </p:nvSpPr>
        <p:spPr>
          <a:xfrm>
            <a:off x="3200333" y="767933"/>
            <a:ext cx="8428800" cy="847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3000"/>
              <a:buFont typeface="Raleway"/>
              <a:buNone/>
              <a:defRPr b="1" i="0" sz="3000" u="none" cap="none" strike="noStrike">
                <a:solidFill>
                  <a:schemeClr val="dk2"/>
                </a:solidFill>
                <a:latin typeface="Raleway"/>
                <a:ea typeface="Raleway"/>
                <a:cs typeface="Raleway"/>
                <a:sym typeface="Raleway"/>
              </a:defRPr>
            </a:lvl9pPr>
          </a:lstStyle>
          <a:p/>
        </p:txBody>
      </p:sp>
      <p:sp>
        <p:nvSpPr>
          <p:cNvPr id="7" name="Google Shape;7;p42"/>
          <p:cNvSpPr txBox="1"/>
          <p:nvPr>
            <p:ph idx="1" type="body"/>
          </p:nvPr>
        </p:nvSpPr>
        <p:spPr>
          <a:xfrm>
            <a:off x="3213483" y="2127701"/>
            <a:ext cx="8428800" cy="4003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  <a:defRPr b="0" i="0" sz="1800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●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160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Lato"/>
              <a:buChar char="○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1600"/>
              </a:spcBef>
              <a:spcAft>
                <a:spcPts val="1600"/>
              </a:spcAft>
              <a:buClr>
                <a:schemeClr val="dk2"/>
              </a:buClr>
              <a:buSzPts val="1400"/>
              <a:buFont typeface="Lato"/>
              <a:buChar char="■"/>
              <a:defRPr b="0" i="0" sz="1867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/>
        </p:txBody>
      </p:sp>
      <p:sp>
        <p:nvSpPr>
          <p:cNvPr id="8" name="Google Shape;8;p42"/>
          <p:cNvSpPr txBox="1"/>
          <p:nvPr>
            <p:ph idx="12" type="sldNum"/>
          </p:nvPr>
        </p:nvSpPr>
        <p:spPr>
          <a:xfrm>
            <a:off x="11330665" y="6251679"/>
            <a:ext cx="731600" cy="524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333"/>
              <a:buFont typeface="Arial"/>
              <a:buNone/>
              <a:defRPr b="0" i="0" sz="1333" u="none" cap="none" strike="noStrike">
                <a:solidFill>
                  <a:schemeClr val="dk2"/>
                </a:solidFill>
                <a:latin typeface="Lato"/>
                <a:ea typeface="Lato"/>
                <a:cs typeface="Lato"/>
                <a:sym typeface="Lato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Google Shape;72;p1"/>
          <p:cNvSpPr txBox="1"/>
          <p:nvPr/>
        </p:nvSpPr>
        <p:spPr>
          <a:xfrm>
            <a:off x="1524000" y="2133947"/>
            <a:ext cx="9144000" cy="1754286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spAutoFit/>
          </a:bodyPr>
          <a:lstStyle/>
          <a:p>
            <a:pPr indent="0" lvl="0" marL="0" marR="0" rtl="0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6000"/>
              <a:buFont typeface="Calibri"/>
              <a:buNone/>
            </a:pPr>
            <a:r>
              <a:rPr b="1" i="0" lang="en-US" sz="6000" u="none" cap="none" strike="noStrike">
                <a:solidFill>
                  <a:schemeClr val="accent1"/>
                </a:solidFill>
                <a:latin typeface="Lato"/>
                <a:ea typeface="Lato"/>
                <a:cs typeface="Lato"/>
                <a:sym typeface="Lato"/>
              </a:rPr>
              <a:t>Problem Solving using Advance SQL</a:t>
            </a:r>
            <a:endParaRPr b="1" i="0" sz="6000" u="none" cap="none" strike="noStrike">
              <a:solidFill>
                <a:schemeClr val="accent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7" name="Google Shape;77;p25"/>
          <p:cNvGrpSpPr/>
          <p:nvPr/>
        </p:nvGrpSpPr>
        <p:grpSpPr>
          <a:xfrm>
            <a:off x="2640563" y="2399540"/>
            <a:ext cx="6910875" cy="1134002"/>
            <a:chOff x="6389225" y="1006997"/>
            <a:chExt cx="4726281" cy="775533"/>
          </a:xfrm>
        </p:grpSpPr>
        <p:sp>
          <p:nvSpPr>
            <p:cNvPr id="78" name="Google Shape;78;p25"/>
            <p:cNvSpPr/>
            <p:nvPr/>
          </p:nvSpPr>
          <p:spPr>
            <a:xfrm>
              <a:off x="6389225" y="1006998"/>
              <a:ext cx="660817" cy="775532"/>
            </a:xfrm>
            <a:custGeom>
              <a:rect b="b" l="l" r="r" t="t"/>
              <a:pathLst>
                <a:path extrusionOk="0" h="782577" w="4726281">
                  <a:moveTo>
                    <a:pt x="0" y="65817"/>
                  </a:moveTo>
                  <a:cubicBezTo>
                    <a:pt x="0" y="33854"/>
                    <a:pt x="212270" y="3057"/>
                    <a:pt x="244233" y="3057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4890E4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79" name="Google Shape;79;p25"/>
            <p:cNvSpPr/>
            <p:nvPr/>
          </p:nvSpPr>
          <p:spPr>
            <a:xfrm>
              <a:off x="6389225" y="1006997"/>
              <a:ext cx="4726281" cy="774635"/>
            </a:xfrm>
            <a:custGeom>
              <a:rect b="b" l="l" r="r" t="t"/>
              <a:pathLst>
                <a:path extrusionOk="0" h="774635" w="4726281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cap="flat" cmpd="sng" w="15875">
              <a:solidFill>
                <a:srgbClr val="AEABA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0" name="Google Shape;80;p25"/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02</a:t>
              </a:r>
              <a:endParaRPr b="1" i="0" sz="2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1" name="Google Shape;81;p25"/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Dataset 2: </a:t>
              </a:r>
              <a:r>
                <a:rPr b="1" i="0" lang="en-US" sz="2000" u="none" cap="none" strike="noStrik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Commodities prices in India</a:t>
              </a:r>
              <a:endParaRPr/>
            </a:p>
          </p:txBody>
        </p:sp>
      </p:grpSp>
      <p:grpSp>
        <p:nvGrpSpPr>
          <p:cNvPr id="82" name="Google Shape;82;p25"/>
          <p:cNvGrpSpPr/>
          <p:nvPr/>
        </p:nvGrpSpPr>
        <p:grpSpPr>
          <a:xfrm>
            <a:off x="2640563" y="1092723"/>
            <a:ext cx="6910875" cy="1134000"/>
            <a:chOff x="6389225" y="1006997"/>
            <a:chExt cx="4726281" cy="775531"/>
          </a:xfrm>
        </p:grpSpPr>
        <p:sp>
          <p:nvSpPr>
            <p:cNvPr id="83" name="Google Shape;83;p25"/>
            <p:cNvSpPr/>
            <p:nvPr/>
          </p:nvSpPr>
          <p:spPr>
            <a:xfrm>
              <a:off x="6389225" y="1006997"/>
              <a:ext cx="660817" cy="775531"/>
            </a:xfrm>
            <a:custGeom>
              <a:rect b="b" l="l" r="r" t="t"/>
              <a:pathLst>
                <a:path extrusionOk="0" h="782577" w="4726281">
                  <a:moveTo>
                    <a:pt x="0" y="65817"/>
                  </a:moveTo>
                  <a:cubicBezTo>
                    <a:pt x="0" y="33854"/>
                    <a:pt x="177331" y="4685"/>
                    <a:pt x="209294" y="4685"/>
                  </a:cubicBezTo>
                  <a:lnTo>
                    <a:pt x="4726281" y="0"/>
                  </a:lnTo>
                  <a:cubicBezTo>
                    <a:pt x="4725176" y="250592"/>
                    <a:pt x="4724070" y="531329"/>
                    <a:pt x="4722965" y="781921"/>
                  </a:cubicBezTo>
                  <a:lnTo>
                    <a:pt x="0" y="782577"/>
                  </a:lnTo>
                  <a:lnTo>
                    <a:pt x="0" y="65817"/>
                  </a:lnTo>
                  <a:close/>
                </a:path>
              </a:pathLst>
            </a:custGeom>
            <a:solidFill>
              <a:srgbClr val="F4AB35"/>
            </a:solidFill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4" name="Google Shape;84;p25"/>
            <p:cNvSpPr/>
            <p:nvPr/>
          </p:nvSpPr>
          <p:spPr>
            <a:xfrm>
              <a:off x="6389225" y="1006997"/>
              <a:ext cx="4726281" cy="774635"/>
            </a:xfrm>
            <a:custGeom>
              <a:rect b="b" l="l" r="r" t="t"/>
              <a:pathLst>
                <a:path extrusionOk="0" h="774635" w="4726281">
                  <a:moveTo>
                    <a:pt x="0" y="57875"/>
                  </a:moveTo>
                  <a:cubicBezTo>
                    <a:pt x="0" y="25912"/>
                    <a:pt x="25912" y="0"/>
                    <a:pt x="57875" y="0"/>
                  </a:cubicBezTo>
                  <a:lnTo>
                    <a:pt x="4726281" y="12155"/>
                  </a:lnTo>
                  <a:lnTo>
                    <a:pt x="4722471" y="706055"/>
                  </a:lnTo>
                  <a:cubicBezTo>
                    <a:pt x="4722471" y="738018"/>
                    <a:pt x="4696559" y="763930"/>
                    <a:pt x="4664596" y="763930"/>
                  </a:cubicBezTo>
                  <a:lnTo>
                    <a:pt x="0" y="774635"/>
                  </a:lnTo>
                  <a:lnTo>
                    <a:pt x="0" y="57875"/>
                  </a:lnTo>
                  <a:close/>
                </a:path>
              </a:pathLst>
            </a:custGeom>
            <a:noFill/>
            <a:ln cap="flat" cmpd="sng" w="15875">
              <a:solidFill>
                <a:srgbClr val="AEABAB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r>
                <a:t/>
              </a:r>
              <a:endParaRPr b="0" i="0" sz="1800" u="none" cap="none" strike="noStrik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85" name="Google Shape;85;p25"/>
            <p:cNvSpPr txBox="1"/>
            <p:nvPr/>
          </p:nvSpPr>
          <p:spPr>
            <a:xfrm>
              <a:off x="6399275" y="1219373"/>
              <a:ext cx="660817" cy="35782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spAutoFit/>
            </a:bodyPr>
            <a:lstStyle/>
            <a:p>
              <a:pPr indent="0" lvl="0" marL="0" marR="0" rtl="0" algn="ctr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FFFFFF"/>
                </a:buClr>
                <a:buSzPts val="2800"/>
                <a:buFont typeface="Arial"/>
                <a:buNone/>
              </a:pPr>
              <a:r>
                <a:rPr b="1" i="0" lang="en-US" sz="2800" u="none" cap="none" strike="noStrike">
                  <a:solidFill>
                    <a:srgbClr val="FFFFFF"/>
                  </a:solidFill>
                  <a:latin typeface="Lato"/>
                  <a:ea typeface="Lato"/>
                  <a:cs typeface="Lato"/>
                  <a:sym typeface="Lato"/>
                </a:rPr>
                <a:t>01</a:t>
              </a:r>
              <a:endParaRPr b="1" i="0" sz="2800" u="none" cap="none" strike="noStrike">
                <a:solidFill>
                  <a:srgbClr val="FFFFFF"/>
                </a:solidFill>
                <a:latin typeface="Lato"/>
                <a:ea typeface="Lato"/>
                <a:cs typeface="Lato"/>
                <a:sym typeface="Lato"/>
              </a:endParaRPr>
            </a:p>
          </p:txBody>
        </p:sp>
        <p:sp>
          <p:nvSpPr>
            <p:cNvPr id="86" name="Google Shape;86;p25"/>
            <p:cNvSpPr txBox="1"/>
            <p:nvPr/>
          </p:nvSpPr>
          <p:spPr>
            <a:xfrm>
              <a:off x="7100477" y="1160981"/>
              <a:ext cx="3910423" cy="466667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45700" lIns="91425" spcFirstLastPara="1" rIns="91425" wrap="square" tIns="45700">
              <a:noAutofit/>
            </a:bodyPr>
            <a:lstStyle/>
            <a:p>
              <a:pPr indent="0" lvl="0" marL="0" marR="0" rtl="0" algn="l">
                <a:lnSpc>
                  <a:spcPct val="107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2"/>
                </a:buClr>
                <a:buSzPts val="2000"/>
                <a:buFont typeface="Arial"/>
                <a:buNone/>
              </a:pPr>
              <a:r>
                <a:rPr b="1" i="0" lang="en-US" sz="2000" u="none" cap="none" strike="noStrike">
                  <a:solidFill>
                    <a:schemeClr val="dk2"/>
                  </a:solidFill>
                  <a:latin typeface="Lato"/>
                  <a:ea typeface="Lato"/>
                  <a:cs typeface="Lato"/>
                  <a:sym typeface="Lato"/>
                </a:rPr>
                <a:t>Dataset 1: </a:t>
              </a:r>
              <a:r>
                <a:rPr b="1" i="0" lang="en-US" sz="2000" u="none" cap="none" strike="noStrike">
                  <a:solidFill>
                    <a:srgbClr val="3F3F3F"/>
                  </a:solidFill>
                  <a:latin typeface="Lato"/>
                  <a:ea typeface="Lato"/>
                  <a:cs typeface="Lato"/>
                  <a:sym typeface="Lato"/>
                </a:rPr>
                <a:t>Supply Chain Data</a:t>
              </a:r>
              <a:endParaRPr/>
            </a:p>
          </p:txBody>
        </p:sp>
      </p:grpSp>
      <p:sp>
        <p:nvSpPr>
          <p:cNvPr id="87" name="Google Shape;87;p25"/>
          <p:cNvSpPr txBox="1"/>
          <p:nvPr/>
        </p:nvSpPr>
        <p:spPr>
          <a:xfrm>
            <a:off x="2314707" y="201168"/>
            <a:ext cx="7562586" cy="5238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0" i="0" lang="en-US" sz="24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DATASETS</a:t>
            </a:r>
            <a:endParaRPr b="0" i="0" sz="18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8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2" presetSubtype="2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dur="500"/>
                                        <p:tgtEl>
                                          <p:spTgt spid="7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fmla="" tm="0">
                                          <p:val>
                                            <p:strVal val="#ppt_x+1"/>
                                          </p:val>
                                        </p:tav>
                                        <p:tav fmla=""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8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8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1" name="Shape 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2" name="Google Shape;92;p26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DATA QUESTIONS</a:t>
            </a:r>
            <a:endParaRPr/>
          </a:p>
        </p:txBody>
      </p:sp>
      <p:sp>
        <p:nvSpPr>
          <p:cNvPr id="93" name="Google Shape;93;p26"/>
          <p:cNvSpPr/>
          <p:nvPr/>
        </p:nvSpPr>
        <p:spPr>
          <a:xfrm>
            <a:off x="1206500" y="1943153"/>
            <a:ext cx="9779000" cy="1618157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4" name="Google Shape;94;p26"/>
          <p:cNvSpPr txBox="1"/>
          <p:nvPr/>
        </p:nvSpPr>
        <p:spPr>
          <a:xfrm>
            <a:off x="1358900" y="2290566"/>
            <a:ext cx="9628890" cy="92333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0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number of orders by the Type of Transaction. Please exclude orders shipped from Sangli and Srinagar. Also, exclude the SUSPECTED_FRAUD cases based on the Order Status. Sort the result in the descending order based on the number of orders.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p27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ALGORITHM</a:t>
            </a:r>
            <a:endParaRPr/>
          </a:p>
        </p:txBody>
      </p:sp>
      <p:sp>
        <p:nvSpPr>
          <p:cNvPr id="100" name="Google Shape;100;p27"/>
          <p:cNvSpPr/>
          <p:nvPr/>
        </p:nvSpPr>
        <p:spPr>
          <a:xfrm>
            <a:off x="340700" y="916999"/>
            <a:ext cx="11691900" cy="1235400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1" name="Google Shape;101;p27"/>
          <p:cNvSpPr txBox="1"/>
          <p:nvPr/>
        </p:nvSpPr>
        <p:spPr>
          <a:xfrm>
            <a:off x="415800" y="938075"/>
            <a:ext cx="11085600" cy="1046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547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2067"/>
              <a:buFont typeface="Noto Sans Symbols"/>
              <a:buChar char="🞆"/>
            </a:pPr>
            <a:r>
              <a:rPr b="0" i="0" lang="en-US" sz="2067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number of orders by the Type of Transaction. Please exclude orders shipped from Sangli and Srinagar. Also, exclude the SUSPECTED_FRAUD cases based on the Order Status. Sort the result in the descending order based on the number of orders.</a:t>
            </a:r>
            <a:endParaRPr sz="1600"/>
          </a:p>
        </p:txBody>
      </p:sp>
      <p:sp>
        <p:nvSpPr>
          <p:cNvPr id="102" name="Google Shape;102;p27"/>
          <p:cNvSpPr txBox="1"/>
          <p:nvPr/>
        </p:nvSpPr>
        <p:spPr>
          <a:xfrm>
            <a:off x="415800" y="2628700"/>
            <a:ext cx="11455200" cy="3224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Input: Orders table: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Order_Id, Type, Order_City, Order_Status</a:t>
            </a:r>
            <a:endParaRPr b="0" i="0" sz="2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Expected Output: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Type of Transaction | Orders; Sorted in descending order of Orders</a:t>
            </a:r>
            <a:endParaRPr sz="1900"/>
          </a:p>
          <a:p>
            <a:pPr indent="-37375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10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1: Filter out ‘Sangli’ and ‘Srinagar’ from the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city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column of the data</a:t>
            </a:r>
            <a:endParaRPr sz="1900"/>
          </a:p>
          <a:p>
            <a:pPr indent="-37375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10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2: Filter out ‘</a:t>
            </a: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SUSPECTED_FRAUD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’ from the </a:t>
            </a: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order_status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column of the data</a:t>
            </a:r>
            <a:endParaRPr sz="1900"/>
          </a:p>
          <a:p>
            <a:pPr indent="-37375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10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3: Aggregation – COUNT(order_id), group by Transaction_type</a:t>
            </a:r>
            <a:endParaRPr b="0" i="0" sz="21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5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210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b="1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21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Sort the result in descending order of Orders</a:t>
            </a:r>
            <a:endParaRPr b="0" i="0" sz="2100" u="none" cap="none" strike="noStrike">
              <a:solidFill>
                <a:srgbClr val="EE2C3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9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6" name="Shape 1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7" name="Google Shape;107;p28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DATA QUESTIONS</a:t>
            </a:r>
            <a:endParaRPr/>
          </a:p>
        </p:txBody>
      </p:sp>
      <p:sp>
        <p:nvSpPr>
          <p:cNvPr id="108" name="Google Shape;108;p28"/>
          <p:cNvSpPr/>
          <p:nvPr/>
        </p:nvSpPr>
        <p:spPr>
          <a:xfrm>
            <a:off x="1206500" y="1368797"/>
            <a:ext cx="9779000" cy="2754499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09" name="Google Shape;109;p28"/>
          <p:cNvSpPr txBox="1"/>
          <p:nvPr/>
        </p:nvSpPr>
        <p:spPr>
          <a:xfrm>
            <a:off x="1330110" y="1425536"/>
            <a:ext cx="9628890" cy="24622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0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list of the Top 3 customers based on the completed orders along with the following details: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Id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First Name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City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State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Number of completed orders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Total Sales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09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9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ALGORITHM</a:t>
            </a:r>
            <a:endParaRPr b="1"/>
          </a:p>
        </p:txBody>
      </p:sp>
      <p:sp>
        <p:nvSpPr>
          <p:cNvPr id="115" name="Google Shape;115;p29"/>
          <p:cNvSpPr/>
          <p:nvPr/>
        </p:nvSpPr>
        <p:spPr>
          <a:xfrm>
            <a:off x="1206500" y="917012"/>
            <a:ext cx="10087200" cy="4883700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6" name="Google Shape;116;p29"/>
          <p:cNvSpPr txBox="1"/>
          <p:nvPr/>
        </p:nvSpPr>
        <p:spPr>
          <a:xfrm>
            <a:off x="1435050" y="1345525"/>
            <a:ext cx="9626700" cy="3632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309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3200"/>
              <a:buFont typeface="Noto Sans Symbols"/>
              <a:buChar char="🞆"/>
            </a:pPr>
            <a:r>
              <a:rPr b="0" i="0" lang="en-US" sz="32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list of the Top 3 customers based on the completed orders along with the following details: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Id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First Name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City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State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Number of completed orders</a:t>
            </a:r>
            <a:endParaRPr sz="2800"/>
          </a:p>
          <a:p>
            <a:pPr indent="-4309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600"/>
              <a:buFont typeface="Lato"/>
              <a:buChar char="●"/>
            </a:pPr>
            <a:r>
              <a:rPr b="0" i="0" lang="en-US" sz="2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Total Sales of completed order</a:t>
            </a:r>
            <a:endParaRPr b="0" i="0" sz="3266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17" name="Google Shape;117;p29"/>
          <p:cNvSpPr txBox="1"/>
          <p:nvPr/>
        </p:nvSpPr>
        <p:spPr>
          <a:xfrm>
            <a:off x="1206500" y="2992518"/>
            <a:ext cx="9779100" cy="307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6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1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26ec83d54b5_0_0"/>
          <p:cNvSpPr txBox="1"/>
          <p:nvPr/>
        </p:nvSpPr>
        <p:spPr>
          <a:xfrm>
            <a:off x="138550" y="392525"/>
            <a:ext cx="11709300" cy="5171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Input: Orders table: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Order_Id and Order_Status; </a:t>
            </a:r>
            <a:r>
              <a:rPr b="1"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Ordered_items table: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Sales;</a:t>
            </a:r>
            <a:r>
              <a:rPr b="1"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Customer_info table: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Id, First_Name, City, State;</a:t>
            </a:r>
            <a:endParaRPr sz="23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Expected Output: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Customer Id | Customer First Name Customer City | Customer State | Completed orders | Total Sales; Retain only top 3 customer based on Completed orders</a:t>
            </a:r>
            <a:endParaRPr sz="2100">
              <a:solidFill>
                <a:schemeClr val="dk1"/>
              </a:solidFill>
            </a:endParaRPr>
          </a:p>
          <a:p>
            <a:pPr indent="-3864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🞆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1: Join orders and order_items to get order_id level sales</a:t>
            </a:r>
            <a:endParaRPr sz="2100">
              <a:solidFill>
                <a:schemeClr val="dk1"/>
              </a:solidFill>
            </a:endParaRPr>
          </a:p>
          <a:p>
            <a:pPr indent="-3864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🞆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2: Filter for ‘COMPLETE’ orders from the </a:t>
            </a:r>
            <a:r>
              <a:rPr b="1"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order_status </a:t>
            </a: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column of the orders table</a:t>
            </a:r>
            <a:endParaRPr sz="2100">
              <a:solidFill>
                <a:schemeClr val="dk1"/>
              </a:solidFill>
            </a:endParaRPr>
          </a:p>
          <a:p>
            <a:pPr indent="-3864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🞆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3: Join above result with Customers table and create customer id level summary</a:t>
            </a:r>
            <a:endParaRPr sz="2100">
              <a:solidFill>
                <a:schemeClr val="dk1"/>
              </a:solidFill>
            </a:endParaRPr>
          </a:p>
          <a:p>
            <a:pPr indent="-3864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300"/>
              <a:buFont typeface="Noto Sans Symbols"/>
              <a:buChar char="🞆"/>
            </a:pPr>
            <a:r>
              <a:rPr lang="en-US" sz="23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4: Aggregation – COUNT(order_id), SUM(Sales) group by Customer Id, Customer First Name, Customer City and Customer State</a:t>
            </a:r>
            <a:endParaRPr sz="2100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p30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DATA QUESTIONS</a:t>
            </a:r>
            <a:endParaRPr/>
          </a:p>
        </p:txBody>
      </p:sp>
      <p:sp>
        <p:nvSpPr>
          <p:cNvPr id="128" name="Google Shape;128;p30"/>
          <p:cNvSpPr/>
          <p:nvPr/>
        </p:nvSpPr>
        <p:spPr>
          <a:xfrm>
            <a:off x="1277654" y="1568186"/>
            <a:ext cx="9860246" cy="1156518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9" name="Google Shape;129;p30"/>
          <p:cNvSpPr txBox="1"/>
          <p:nvPr/>
        </p:nvSpPr>
        <p:spPr>
          <a:xfrm>
            <a:off x="1427763" y="1760678"/>
            <a:ext cx="10006675" cy="646331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0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order count by the Shipping Mode and the Department Name. Consider departments with at least 40 closed/completed orders.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29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31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ALGORITHM</a:t>
            </a:r>
            <a:endParaRPr/>
          </a:p>
        </p:txBody>
      </p:sp>
      <p:sp>
        <p:nvSpPr>
          <p:cNvPr id="135" name="Google Shape;135;p31"/>
          <p:cNvSpPr/>
          <p:nvPr/>
        </p:nvSpPr>
        <p:spPr>
          <a:xfrm>
            <a:off x="1206500" y="916993"/>
            <a:ext cx="9779000" cy="849664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6" name="Google Shape;136;p31"/>
          <p:cNvSpPr txBox="1"/>
          <p:nvPr/>
        </p:nvSpPr>
        <p:spPr>
          <a:xfrm>
            <a:off x="1358900" y="990086"/>
            <a:ext cx="9628890" cy="707886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0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2000"/>
              <a:buFont typeface="Noto Sans Symbols"/>
              <a:buChar char="🞆"/>
            </a:pPr>
            <a:r>
              <a:rPr b="0" i="0" lang="en-US" sz="20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Get the order count by the Shipping Mode and the Department Name. Consider departments with at least 40 closed/completed orders.</a:t>
            </a:r>
            <a:endParaRPr b="0" i="0" sz="1867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37" name="Google Shape;137;p31"/>
          <p:cNvSpPr txBox="1"/>
          <p:nvPr/>
        </p:nvSpPr>
        <p:spPr>
          <a:xfrm>
            <a:off x="1206500" y="2282325"/>
            <a:ext cx="10026300" cy="4125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Input: orders: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order_id, Shipping_Mode and Order_Status;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ordered_items; product_info; department: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name;</a:t>
            </a:r>
            <a:endParaRPr b="0" i="0" sz="1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Expected Output: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Shipping Mode | Department Name | Orders; Retain departments with only 40 closed/completed order</a:t>
            </a:r>
            <a:endParaRPr/>
          </a:p>
          <a:p>
            <a:pPr indent="-34200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600"/>
              <a:buFont typeface="Noto Sans Symbols"/>
              <a:buChar char="🞆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1: Join order, ordered_items, product_info and department to get all the departments an order is associated with</a:t>
            </a:r>
            <a:endParaRPr/>
          </a:p>
          <a:p>
            <a:pPr indent="-34200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600"/>
              <a:buFont typeface="Noto Sans Symbols"/>
              <a:buChar char="🞆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2: Filter for ‘</a:t>
            </a:r>
            <a:r>
              <a:rPr b="0" i="0" lang="en-US" sz="16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COMPLETE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’ and ‘CLOSED’ from </a:t>
            </a: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order_status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column of the orders table</a:t>
            </a:r>
            <a:endParaRPr/>
          </a:p>
          <a:p>
            <a:pPr indent="-34200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600"/>
              <a:buFont typeface="Noto Sans Symbols"/>
              <a:buChar char="🞆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3: Aggregation – COUNT(distinct order_id), group by department name; </a:t>
            </a:r>
            <a:endParaRPr/>
          </a:p>
          <a:p>
            <a:pPr indent="-34200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600"/>
              <a:buFont typeface="Noto Sans Symbols"/>
              <a:buChar char="🞆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4: In the above table filter for COUNT(distinct order_id)&gt;40</a:t>
            </a:r>
            <a:endParaRPr b="0" i="0" sz="1600" u="none" cap="none" strike="noStrike">
              <a:solidFill>
                <a:srgbClr val="000000"/>
              </a:solidFill>
              <a:latin typeface="Lato"/>
              <a:ea typeface="Lato"/>
              <a:cs typeface="Lato"/>
              <a:sym typeface="Lato"/>
            </a:endParaRPr>
          </a:p>
          <a:p>
            <a:pPr indent="-342000" lvl="0" marL="3420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rgbClr val="EE2C3C"/>
              </a:buClr>
              <a:buSzPts val="1600"/>
              <a:buFont typeface="Noto Sans Symbols"/>
              <a:buChar char="🞆"/>
            </a:pP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r>
              <a:rPr b="1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From Step 1 perform aggregation – COUNT(</a:t>
            </a:r>
            <a:r>
              <a:rPr lang="en-US" sz="16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distinct </a:t>
            </a:r>
            <a:r>
              <a:rPr b="0" i="0" lang="en-US" sz="1600" u="none" cap="none" strike="noStrike">
                <a:solidFill>
                  <a:srgbClr val="000000"/>
                </a:solidFill>
                <a:latin typeface="Lato"/>
                <a:ea typeface="Lato"/>
                <a:cs typeface="Lato"/>
                <a:sym typeface="Lato"/>
              </a:rPr>
              <a:t>order_id), group by Shipping mode and department name; retain only those department names that were left over after the filter applied in Step 4</a:t>
            </a:r>
            <a:endParaRPr b="0" i="0" sz="1600" u="none" cap="none" strike="noStrike">
              <a:solidFill>
                <a:srgbClr val="EE2C3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6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37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Google Shape;142;p32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DATA QUESTIONS</a:t>
            </a:r>
            <a:endParaRPr/>
          </a:p>
        </p:txBody>
      </p:sp>
      <p:sp>
        <p:nvSpPr>
          <p:cNvPr id="143" name="Google Shape;143;p32"/>
          <p:cNvSpPr/>
          <p:nvPr/>
        </p:nvSpPr>
        <p:spPr>
          <a:xfrm>
            <a:off x="348725" y="1180374"/>
            <a:ext cx="11129700" cy="4296900"/>
          </a:xfrm>
          <a:prstGeom prst="roundRect">
            <a:avLst>
              <a:gd fmla="val 12007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32"/>
          <p:cNvSpPr txBox="1"/>
          <p:nvPr/>
        </p:nvSpPr>
        <p:spPr>
          <a:xfrm>
            <a:off x="1007030" y="1495950"/>
            <a:ext cx="9628800" cy="3866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6105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2100"/>
              <a:buFont typeface="Noto Sans Symbols"/>
              <a:buChar char="🞆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a new field as shipment compliance based on Real_Shipping_Days and Scheduled_Shipping_Days. It should have the following values:</a:t>
            </a:r>
            <a:endParaRPr sz="1700"/>
          </a:p>
          <a:p>
            <a:pPr indent="-3610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Cancelled shipment - If the Order Status is SUSPECTED_FRAUD or CANCELED</a:t>
            </a:r>
            <a:endParaRPr sz="1700"/>
          </a:p>
          <a:p>
            <a:pPr indent="-3610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Within schedule - If shipped within the scheduled number of days </a:t>
            </a:r>
            <a:endParaRPr sz="1700"/>
          </a:p>
          <a:p>
            <a:pPr indent="-3610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 time - If shipped exactly as per schedule</a:t>
            </a:r>
            <a:endParaRPr sz="1700"/>
          </a:p>
          <a:p>
            <a:pPr indent="-3610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Upto 2 days of delay - If shipped beyond schedule but delay upto 2 days</a:t>
            </a:r>
            <a:endParaRPr sz="1700"/>
          </a:p>
          <a:p>
            <a:pPr indent="-3610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Lato"/>
              <a:buChar char="●"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Beyond 2 days of delay - If shipped beyond schedule with delay beyond 2 days</a:t>
            </a:r>
            <a:endParaRPr sz="1700"/>
          </a:p>
          <a:p>
            <a:pPr indent="0" lvl="0" marL="342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1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shipping mode was observed to have the greatest number of delayed orders?</a:t>
            </a:r>
            <a:endParaRPr b="0" i="0" sz="21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4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8" name="Shape 1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9" name="Google Shape;149;p33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ALGORITHM</a:t>
            </a:r>
            <a:endParaRPr/>
          </a:p>
        </p:txBody>
      </p:sp>
      <p:sp>
        <p:nvSpPr>
          <p:cNvPr id="150" name="Google Shape;150;p33"/>
          <p:cNvSpPr/>
          <p:nvPr/>
        </p:nvSpPr>
        <p:spPr>
          <a:xfrm>
            <a:off x="510225" y="916999"/>
            <a:ext cx="11314500" cy="5160600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1" name="Google Shape;151;p33"/>
          <p:cNvSpPr txBox="1"/>
          <p:nvPr/>
        </p:nvSpPr>
        <p:spPr>
          <a:xfrm>
            <a:off x="1206500" y="3560701"/>
            <a:ext cx="977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EE2C3C"/>
              </a:solidFill>
              <a:latin typeface="Lato"/>
              <a:ea typeface="Lato"/>
              <a:cs typeface="Lato"/>
              <a:sym typeface="Lato"/>
            </a:endParaRPr>
          </a:p>
        </p:txBody>
      </p:sp>
      <p:sp>
        <p:nvSpPr>
          <p:cNvPr id="152" name="Google Shape;152;p33"/>
          <p:cNvSpPr txBox="1"/>
          <p:nvPr/>
        </p:nvSpPr>
        <p:spPr>
          <a:xfrm>
            <a:off x="796625" y="1111107"/>
            <a:ext cx="10728000" cy="505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4055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2800"/>
              <a:buFont typeface="Noto Sans Symbols"/>
              <a:buChar char="🞆"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a new field as shipment compliance based on Real_Shipping_Days and Scheduled_Shipping_Days. It should have the following values:</a:t>
            </a:r>
            <a:endParaRPr sz="2400"/>
          </a:p>
          <a:p>
            <a:pPr indent="-4055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Cancelled shipment - If the Order Status is SUSPECTED_FRAUD or CANCELED</a:t>
            </a:r>
            <a:endParaRPr sz="2400"/>
          </a:p>
          <a:p>
            <a:pPr indent="-4055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Within schedule - If shipped within the scheduled number of days </a:t>
            </a:r>
            <a:endParaRPr sz="2400"/>
          </a:p>
          <a:p>
            <a:pPr indent="-4055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On time - If shipped exactly as per schedule</a:t>
            </a:r>
            <a:endParaRPr sz="2400"/>
          </a:p>
          <a:p>
            <a:pPr indent="-4055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Upto 2 days of delay - If shipped beyond schedule but delay upto 2 days</a:t>
            </a:r>
            <a:endParaRPr sz="2400"/>
          </a:p>
          <a:p>
            <a:pPr indent="-4055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400"/>
              <a:buFont typeface="Lato"/>
              <a:buChar char="●"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Beyond 2 days of delay - If shipped beyond schedule with delay beyond 2 days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342000" marR="0" rtl="0" algn="l">
              <a:lnSpc>
                <a:spcPct val="100000"/>
              </a:lnSpc>
              <a:spcBef>
                <a:spcPts val="70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Which shipping mode was observed to have the greatest number of delayed orders?</a:t>
            </a:r>
            <a:endParaRPr b="0" i="0" sz="2800" u="none" cap="none" strike="noStrike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2" st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3" st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4" st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5" st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52">
                                            <p:txEl>
                                              <p:pRg end="6" st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6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g26ec83d54b5_0_5"/>
          <p:cNvSpPr txBox="1"/>
          <p:nvPr/>
        </p:nvSpPr>
        <p:spPr>
          <a:xfrm>
            <a:off x="300175" y="923625"/>
            <a:ext cx="10970400" cy="4286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Input: orders: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order_id, Real_Shipping_Days, Scheduled_Shipping_Days and Shipping_Mode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Expected Output: 1)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order_id | shipment_compliance; 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2)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shipping_mode | Number of delayed orders</a:t>
            </a:r>
            <a:endParaRPr sz="1900">
              <a:solidFill>
                <a:schemeClr val="dk1"/>
              </a:solidFill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1: Create a shipment compliance column based on the criteria </a:t>
            </a:r>
            <a:endParaRPr sz="1900">
              <a:solidFill>
                <a:schemeClr val="dk1"/>
              </a:solidFill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2: Test and confirm if all the cases are taken care of. Check for null values too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3: Filter for delayed orders only</a:t>
            </a:r>
            <a:endParaRPr sz="1900">
              <a:solidFill>
                <a:schemeClr val="dk1"/>
              </a:solidFill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Aggregation – COUNT(order_id), group by shipping mode; sort in descending order of order count; Retain the top most row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2" name="Google Shape;162;p34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SUPPLY CHAIN DATA QUESTIONS</a:t>
            </a:r>
            <a:endParaRPr/>
          </a:p>
        </p:txBody>
      </p:sp>
      <p:sp>
        <p:nvSpPr>
          <p:cNvPr id="163" name="Google Shape;163;p34"/>
          <p:cNvSpPr/>
          <p:nvPr/>
        </p:nvSpPr>
        <p:spPr>
          <a:xfrm>
            <a:off x="1206500" y="1345772"/>
            <a:ext cx="9779000" cy="1660125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64" name="Google Shape;164;p34"/>
          <p:cNvSpPr txBox="1"/>
          <p:nvPr/>
        </p:nvSpPr>
        <p:spPr>
          <a:xfrm>
            <a:off x="1206500" y="1462543"/>
            <a:ext cx="9628890" cy="1225977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4200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1800"/>
              <a:buFont typeface="Noto Sans Symbols"/>
              <a:buChar char="🞆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order is cancelled when the status of the order is either cancelled or SUSPECTED_FRAUD. Obtain the list of states by the order cancellation % and sort them in the descending order of the cancellation % </a:t>
            </a:r>
            <a:endParaRPr/>
          </a:p>
          <a:p>
            <a:pPr indent="-34200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Lato"/>
              <a:buChar char="●"/>
            </a:pPr>
            <a:r>
              <a:rPr b="0" i="0" lang="en-US" sz="18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Definition: Cancellation % = Cancelled order / Total Orders</a:t>
            </a:r>
            <a:endParaRPr/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4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fill="hold" nodeType="withEffect" presetClass="exit" presetID="10" presetSubtype="0">
                                  <p:stCondLst>
                                    <p:cond delay="0"/>
                                  </p:stCondLst>
                                  <p:childTnLst>
                                    <p:animEffect filter="fade" transition="out">
                                      <p:cBhvr>
                                        <p:cTn dur="500"/>
                                        <p:tgtEl>
                                          <p:spTgt spid="162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dur="1" fill="hold">
                                          <p:stCondLst>
                                            <p:cond delay="500"/>
                                          </p:stCondLst>
                                        </p:cTn>
                                        <p:tgtEl>
                                          <p:spTgt spid="1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8" name="Shape 1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9" name="Google Shape;169;p35"/>
          <p:cNvSpPr txBox="1"/>
          <p:nvPr/>
        </p:nvSpPr>
        <p:spPr>
          <a:xfrm>
            <a:off x="1358900" y="356721"/>
            <a:ext cx="9779000" cy="523875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4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ALGORITHM</a:t>
            </a:r>
            <a:endParaRPr/>
          </a:p>
        </p:txBody>
      </p:sp>
      <p:sp>
        <p:nvSpPr>
          <p:cNvPr id="170" name="Google Shape;170;p35"/>
          <p:cNvSpPr/>
          <p:nvPr/>
        </p:nvSpPr>
        <p:spPr>
          <a:xfrm>
            <a:off x="1206500" y="917012"/>
            <a:ext cx="10387500" cy="3267300"/>
          </a:xfrm>
          <a:prstGeom prst="roundRect">
            <a:avLst>
              <a:gd fmla="val 7113" name="adj"/>
            </a:avLst>
          </a:prstGeom>
          <a:noFill/>
          <a:ln cap="flat" cmpd="sng" w="28575">
            <a:solidFill>
              <a:schemeClr val="accen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1867" u="none" cap="none" strike="noStrike">
              <a:solidFill>
                <a:schemeClr val="lt1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1" name="Google Shape;171;p35"/>
          <p:cNvSpPr txBox="1"/>
          <p:nvPr/>
        </p:nvSpPr>
        <p:spPr>
          <a:xfrm>
            <a:off x="1434000" y="1237249"/>
            <a:ext cx="9882900" cy="2196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-399150" lvl="0" marL="342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EE2C3C"/>
              </a:buClr>
              <a:buSzPts val="2700"/>
              <a:buFont typeface="Noto Sans Symbols"/>
              <a:buChar char="🞆"/>
            </a:pPr>
            <a:r>
              <a:rPr b="0" i="0" lang="en-US" sz="2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An order is cancelled when the status of the order is either cancelled or SUSPECTED_FRAUD. Obtain the list of states by the order cancellation % and sort them in the descending order of the cancellation % </a:t>
            </a:r>
            <a:endParaRPr sz="2300"/>
          </a:p>
          <a:p>
            <a:pPr indent="-399150" lvl="1" marL="684000" marR="0" rtl="0" algn="l">
              <a:lnSpc>
                <a:spcPct val="100000"/>
              </a:lnSpc>
              <a:spcBef>
                <a:spcPts val="200"/>
              </a:spcBef>
              <a:spcAft>
                <a:spcPts val="0"/>
              </a:spcAft>
              <a:buClr>
                <a:schemeClr val="dk2"/>
              </a:buClr>
              <a:buSzPts val="2700"/>
              <a:buFont typeface="Lato"/>
              <a:buChar char="●"/>
            </a:pPr>
            <a:r>
              <a:rPr b="0" i="0" lang="en-US" sz="2700" u="none" cap="none" strike="noStrike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Definition: Cancellation % = Cancelled orders / Total Orders</a:t>
            </a:r>
            <a:endParaRPr sz="2300"/>
          </a:p>
        </p:txBody>
      </p:sp>
      <p:sp>
        <p:nvSpPr>
          <p:cNvPr id="172" name="Google Shape;172;p35"/>
          <p:cNvSpPr txBox="1"/>
          <p:nvPr/>
        </p:nvSpPr>
        <p:spPr>
          <a:xfrm>
            <a:off x="1206500" y="2601907"/>
            <a:ext cx="97791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spAutoFit/>
          </a:bodyPr>
          <a:lstStyle/>
          <a:p>
            <a:pPr indent="0" lvl="0" marL="457200" marR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t/>
            </a:r>
            <a:endParaRPr b="0" i="0" sz="1600" u="none" cap="none" strike="noStrike">
              <a:solidFill>
                <a:srgbClr val="EE2C3C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  <p:timing>
    <p:tnLst>
      <p:par>
        <p:cTn dur="indefinite" nodeType="tmRoot" restart="never">
          <p:childTnLst>
            <p:seq concurrent="1" nextAc="seek">
              <p:cTn dur="indefinite" id="2" nodeType="mainSeq">
                <p:childTnLst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fill="hold" nodeType="with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1">
                                            <p:txEl>
                                              <p:pRg end="1" st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fill="hold">
                      <p:stCondLst>
                        <p:cond delay="indefinite"/>
                      </p:stCondLst>
                      <p:childTnLst>
                        <p:par>
                          <p:cTn fill="hold">
                            <p:stCondLst>
                              <p:cond delay="0"/>
                            </p:stCondLst>
                            <p:childTnLst>
                              <p:par>
                                <p:cTn fill="hold" nodeType="clickEffect" presetClass="entr" presetID="10" presetSubtype="0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filter="fade" transition="in">
                                      <p:cBhvr>
                                        <p:cTn dur="500"/>
                                        <p:tgtEl>
                                          <p:spTgt spid="172">
                                            <p:txEl>
                                              <p:pRg end="0" st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>
                  <p:tgtEl>
                    <p:sldTgt/>
                  </p:tgtEl>
                </p:cond>
              </p:prevCondLst>
              <p:nextCondLst>
                <p:cond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g26ec83d54b5_0_10"/>
          <p:cNvSpPr txBox="1"/>
          <p:nvPr/>
        </p:nvSpPr>
        <p:spPr>
          <a:xfrm>
            <a:off x="254000" y="254000"/>
            <a:ext cx="11686200" cy="63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Input: Orders: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Order_Id,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Order_State and Order_Status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0" lvl="0" marL="0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None/>
            </a:pP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Expected Output: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 State | Cancellation Percentage;  Sort in descending order of cancellation %</a:t>
            </a:r>
            <a:endParaRPr sz="1900">
              <a:solidFill>
                <a:schemeClr val="dk1"/>
              </a:solidFill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1: Filter for ‘CANCELED’ and ‘SUSPECTED_FRAUD’ from 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order_status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column of the orders table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2: From result of Step 1, perform aggregation – COUNT(order_id), group by Order_State; 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3: Create separate aggregation of orders table - COUNT(order_id), group by Order_State; to get total orders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4: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Join results of Step 2 and Step 3 on Order_State</a:t>
            </a:r>
            <a:endParaRPr sz="2100">
              <a:solidFill>
                <a:schemeClr val="dk1"/>
              </a:solidFill>
              <a:latin typeface="Lato"/>
              <a:ea typeface="Lato"/>
              <a:cs typeface="Lato"/>
              <a:sym typeface="Lato"/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5:</a:t>
            </a:r>
            <a:r>
              <a:rPr b="1"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 </a:t>
            </a: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Create new column with calculation Cancellation Percentage =Cancelled Orders / Total Orders</a:t>
            </a:r>
            <a:endParaRPr sz="1900">
              <a:solidFill>
                <a:schemeClr val="dk1"/>
              </a:solidFill>
            </a:endParaRPr>
          </a:p>
          <a:p>
            <a:pPr indent="-373749" lvl="0" marL="341999" rtl="0" algn="l">
              <a:lnSpc>
                <a:spcPct val="150000"/>
              </a:lnSpc>
              <a:spcBef>
                <a:spcPts val="600"/>
              </a:spcBef>
              <a:spcAft>
                <a:spcPts val="0"/>
              </a:spcAft>
              <a:buClr>
                <a:schemeClr val="dk2"/>
              </a:buClr>
              <a:buSzPts val="2100"/>
              <a:buFont typeface="Noto Sans Symbols"/>
              <a:buChar char="🞆"/>
            </a:pPr>
            <a:r>
              <a:rPr lang="en-US" sz="2100">
                <a:solidFill>
                  <a:schemeClr val="dk1"/>
                </a:solidFill>
                <a:latin typeface="Lato"/>
                <a:ea typeface="Lato"/>
                <a:cs typeface="Lato"/>
                <a:sym typeface="Lato"/>
              </a:rPr>
              <a:t>Step 6: Sort the final table in descending order of Cancellation Percentage</a:t>
            </a:r>
            <a:endParaRPr sz="2100">
              <a:solidFill>
                <a:schemeClr val="dk2"/>
              </a:solidFill>
              <a:latin typeface="Lato"/>
              <a:ea typeface="Lato"/>
              <a:cs typeface="Lato"/>
              <a:sym typeface="Lato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 name="Swiss">
  <a:themeElements>
    <a:clrScheme name="UpGrad">
      <a:dk1>
        <a:srgbClr val="000000"/>
      </a:dk1>
      <a:lt1>
        <a:srgbClr val="FFFFFF"/>
      </a:lt1>
      <a:dk2>
        <a:srgbClr val="EE2C3C"/>
      </a:dk2>
      <a:lt2>
        <a:srgbClr val="E7E6E6"/>
      </a:lt2>
      <a:accent1>
        <a:srgbClr val="F4AB35"/>
      </a:accent1>
      <a:accent2>
        <a:srgbClr val="4890E4"/>
      </a:accent2>
      <a:accent3>
        <a:srgbClr val="5A5A5A"/>
      </a:accent3>
      <a:accent4>
        <a:srgbClr val="23AE73"/>
      </a:accent4>
      <a:accent5>
        <a:srgbClr val="0EC1C1"/>
      </a:accent5>
      <a:accent6>
        <a:srgbClr val="CE6EC0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Sundar Subramani</dc:creator>
</cp:coreProperties>
</file>